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0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549640" y="1005840"/>
            <a:ext cx="2194560" cy="2194560"/>
          </a:xfrm>
          <a:prstGeom prst="ellipse">
            <a:avLst/>
          </a:prstGeom>
          <a:noFill/>
          <a:ln w="25400">
            <a:solidFill>
              <a:srgbClr val="538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372600" y="1828800"/>
            <a:ext cx="1417320" cy="1417320"/>
          </a:xfrm>
          <a:prstGeom prst="ellipse">
            <a:avLst/>
          </a:prstGeom>
          <a:noFill/>
          <a:ln w="25400">
            <a:solidFill>
              <a:srgbClr val="35D3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104120" y="1143000"/>
            <a:ext cx="640080" cy="640080"/>
          </a:xfrm>
          <a:prstGeom prst="ellipse">
            <a:avLst/>
          </a:prstGeom>
          <a:noFill/>
          <a:ln w="25400">
            <a:solidFill>
              <a:srgbClr val="4DDC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 flipV="1">
            <a:off x="8961120" y="1463040"/>
            <a:ext cx="1097280" cy="640080"/>
          </a:xfrm>
          <a:prstGeom prst="line">
            <a:avLst/>
          </a:prstGeom>
          <a:ln w="17780">
            <a:solidFill>
              <a:srgbClr val="2F44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 flipV="1">
            <a:off x="9144000" y="2286000"/>
            <a:ext cx="1188720" cy="457200"/>
          </a:xfrm>
          <a:prstGeom prst="line">
            <a:avLst/>
          </a:prstGeom>
          <a:ln w="17780">
            <a:solidFill>
              <a:srgbClr val="2F44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V="1">
            <a:off x="9784080" y="1828800"/>
            <a:ext cx="914400" cy="1097280"/>
          </a:xfrm>
          <a:prstGeom prst="line">
            <a:avLst/>
          </a:prstGeom>
          <a:ln w="17780">
            <a:solidFill>
              <a:srgbClr val="2F44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8778240" y="1645920"/>
            <a:ext cx="1097280" cy="548640"/>
          </a:xfrm>
          <a:prstGeom prst="line">
            <a:avLst/>
          </a:prstGeom>
          <a:ln w="17780">
            <a:solidFill>
              <a:srgbClr val="2F44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713232" y="685800"/>
            <a:ext cx="713232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200" b="1">
                <a:solidFill>
                  <a:srgbClr val="35D3D2"/>
                </a:solidFill>
                <a:latin typeface="Aptos"/>
              </a:rPr>
              <a:t>ARTIFICIAL INTELLIGENCE  |  MICRO-PROJECT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325880"/>
            <a:ext cx="7589520" cy="12801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3400" b="1">
                <a:solidFill>
                  <a:srgbClr val="F1F6FF"/>
                </a:solidFill>
                <a:latin typeface="Aptos"/>
              </a:rPr>
              <a:t>SecureBank AI
Fraud Detection Platform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971800"/>
            <a:ext cx="6858000" cy="6400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800" b="0">
                <a:solidFill>
                  <a:srgbClr val="A6B7CD"/>
                </a:solidFill>
                <a:latin typeface="Aptos"/>
              </a:rPr>
              <a:t>An explainable, AI-assisted transaction risk dashboard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160520"/>
            <a:ext cx="6675120" cy="1325880"/>
          </a:xfrm>
          <a:prstGeom prst="roundRect">
            <a:avLst/>
          </a:prstGeom>
          <a:solidFill>
            <a:srgbClr val="111D32"/>
          </a:solidFill>
          <a:ln w="10160">
            <a:solidFill>
              <a:srgbClr val="2F44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4361688"/>
            <a:ext cx="621792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000" b="1">
                <a:solidFill>
                  <a:srgbClr val="35D3D2"/>
                </a:solidFill>
                <a:latin typeface="Aptos"/>
              </a:rPr>
              <a:t>PROJECT TEAM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4681728"/>
            <a:ext cx="612648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F1F6FF"/>
                </a:solidFill>
                <a:latin typeface="Aptos"/>
              </a:rPr>
              <a:t>V. Jishnu  •  A. Visal  •  Kalam Hussain A  •  S. Hubert Jaison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8" y="5806440"/>
            <a:ext cx="6949440" cy="4572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100" b="0">
                <a:solidFill>
                  <a:srgbClr val="A6B7CD"/>
                </a:solidFill>
                <a:latin typeface="Aptos"/>
              </a:rPr>
              <a:t>Course: Artificial Intelligence (25CS301)  |  Academic Year: 2026–27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8" y="6144768"/>
            <a:ext cx="68580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000" b="0">
                <a:solidFill>
                  <a:srgbClr val="A6B7CD"/>
                </a:solidFill>
                <a:latin typeface="Aptos"/>
              </a:rPr>
              <a:t>Karunya Institute of Technology and Sciences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0" y="4572000"/>
            <a:ext cx="2331720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35D3D2"/>
                </a:solidFill>
                <a:latin typeface="Aptos"/>
              </a:rPr>
              <a:t>DETECT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0" y="4965192"/>
            <a:ext cx="2331720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538CFF"/>
                </a:solidFill>
                <a:latin typeface="Aptos"/>
              </a:rPr>
              <a:t>EXPLAIN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0" y="5358384"/>
            <a:ext cx="2331720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4DDCA0"/>
                </a:solidFill>
                <a:latin typeface="Aptos"/>
              </a:rPr>
              <a:t>INVESTIGATE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0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972800" cy="4754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2700" b="1">
                <a:solidFill>
                  <a:srgbClr val="F1F6FF"/>
                </a:solidFill>
                <a:latin typeface="Aptos"/>
              </a:rPr>
              <a:t>Project Snapshot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59536"/>
            <a:ext cx="1088136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150" b="0">
                <a:solidFill>
                  <a:srgbClr val="A6B7CD"/>
                </a:solidFill>
                <a:latin typeface="Aptos"/>
              </a:rPr>
              <a:t>What was proposed, and what the developed website brings together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43584"/>
            <a:ext cx="685800" cy="41148"/>
          </a:xfrm>
          <a:prstGeom prst="rect">
            <a:avLst/>
          </a:prstGeom>
          <a:solidFill>
            <a:srgbClr val="35D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510528"/>
            <a:ext cx="804672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800" b="0">
                <a:solidFill>
                  <a:srgbClr val="A6B7CD"/>
                </a:solidFill>
                <a:latin typeface="Aptos"/>
              </a:rPr>
              <a:t>SECUREBANK AI  •  MICRO-PROJECT  •  ARTIFICIAL INTELLIGENCE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73952"/>
            <a:ext cx="50292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35D3D2"/>
                </a:solidFill>
                <a:latin typeface="Aptos"/>
              </a:rPr>
              <a:t>02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600200"/>
            <a:ext cx="3520440" cy="1828800"/>
          </a:xfrm>
          <a:prstGeom prst="roundRect">
            <a:avLst/>
          </a:prstGeom>
          <a:solidFill>
            <a:srgbClr val="111D32"/>
          </a:solidFill>
          <a:ln w="10160">
            <a:solidFill>
              <a:srgbClr val="2F44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1764792"/>
            <a:ext cx="3118104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600" b="1">
                <a:solidFill>
                  <a:srgbClr val="35D3D2"/>
                </a:solidFill>
                <a:latin typeface="Aptos"/>
              </a:rPr>
              <a:t>THE PROBLEM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2176272"/>
            <a:ext cx="3118104" cy="11155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400" b="0">
                <a:solidFill>
                  <a:srgbClr val="F1F6FF"/>
                </a:solidFill>
                <a:latin typeface="Aptos"/>
              </a:rPr>
              <a:t>Static fraud rules can be slow to adapt, trigger false alarms, and miss subtle combinations of transaction signals.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600200"/>
            <a:ext cx="3520440" cy="1828800"/>
          </a:xfrm>
          <a:prstGeom prst="roundRect">
            <a:avLst/>
          </a:prstGeom>
          <a:solidFill>
            <a:srgbClr val="111D32"/>
          </a:solidFill>
          <a:ln w="10160">
            <a:solidFill>
              <a:srgbClr val="2F44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44568" y="1764792"/>
            <a:ext cx="3118104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600" b="1">
                <a:solidFill>
                  <a:srgbClr val="538CFF"/>
                </a:solidFill>
                <a:latin typeface="Aptos"/>
              </a:rPr>
              <a:t>THE CORE MODEL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44568" y="2176272"/>
            <a:ext cx="3118104" cy="11155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400" b="0">
                <a:solidFill>
                  <a:srgbClr val="F1F6FF"/>
                </a:solidFill>
                <a:latin typeface="Aptos"/>
              </a:rPr>
              <a:t>XGBoost assigns a transaction risk score using transaction and behavioral signals.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600200"/>
            <a:ext cx="3520440" cy="1828800"/>
          </a:xfrm>
          <a:prstGeom prst="roundRect">
            <a:avLst/>
          </a:prstGeom>
          <a:solidFill>
            <a:srgbClr val="111D32"/>
          </a:solidFill>
          <a:ln w="10160">
            <a:solidFill>
              <a:srgbClr val="2F44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47888" y="1764792"/>
            <a:ext cx="3118104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600" b="1">
                <a:solidFill>
                  <a:srgbClr val="4DDCA0"/>
                </a:solidFill>
                <a:latin typeface="Aptos"/>
              </a:rPr>
              <a:t>THE USER EXPERIENCE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47888" y="2176272"/>
            <a:ext cx="3118104" cy="11155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350" b="0">
                <a:solidFill>
                  <a:srgbClr val="F1F6FF"/>
                </a:solidFill>
                <a:latin typeface="Aptos"/>
              </a:rPr>
              <a:t>A web dashboard combines transaction review, risk analytics, CSV batch scoring, and a Gemini-powered admin assistant.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794760"/>
            <a:ext cx="10927080" cy="1645920"/>
          </a:xfrm>
          <a:prstGeom prst="roundRect">
            <a:avLst/>
          </a:prstGeom>
          <a:solidFill>
            <a:srgbClr val="162740"/>
          </a:solidFill>
          <a:ln w="10160">
            <a:solidFill>
              <a:srgbClr val="2F44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4041648"/>
            <a:ext cx="192024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200" b="1">
                <a:solidFill>
                  <a:srgbClr val="35D3D2"/>
                </a:solidFill>
                <a:latin typeface="Aptos"/>
              </a:rPr>
              <a:t>PROJECT AIM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434840"/>
            <a:ext cx="9966960" cy="6400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900" b="1">
                <a:solidFill>
                  <a:srgbClr val="F1F6FF"/>
                </a:solidFill>
                <a:latin typeface="Aptos"/>
              </a:rPr>
              <a:t>Turn model predictions into reviewable decisions: score transactions, surface contributing signals, and let an administrator ask follow-up questions in natural language.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5806440"/>
            <a:ext cx="1069848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000" b="0">
                <a:solidFill>
                  <a:srgbClr val="A6B7CD"/>
                </a:solidFill>
                <a:latin typeface="Aptos"/>
              </a:rPr>
              <a:t>Scope note: this presentation reflects the supplied proposal, original PPT, and your written description of the developed website.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0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972800" cy="4754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2700" b="1">
                <a:solidFill>
                  <a:srgbClr val="F1F6FF"/>
                </a:solidFill>
                <a:latin typeface="Aptos"/>
              </a:rPr>
              <a:t>Problem Statement &amp;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59536"/>
            <a:ext cx="1088136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150" b="0">
                <a:solidFill>
                  <a:srgbClr val="A6B7CD"/>
                </a:solidFill>
                <a:latin typeface="Aptos"/>
              </a:rPr>
              <a:t>The proposal’s motivation remains the foundation of the implemented platform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43584"/>
            <a:ext cx="685800" cy="41148"/>
          </a:xfrm>
          <a:prstGeom prst="rect">
            <a:avLst/>
          </a:prstGeom>
          <a:solidFill>
            <a:srgbClr val="35D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510528"/>
            <a:ext cx="804672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800" b="0">
                <a:solidFill>
                  <a:srgbClr val="A6B7CD"/>
                </a:solidFill>
                <a:latin typeface="Aptos"/>
              </a:rPr>
              <a:t>SECUREBANK AI  •  MICRO-PROJECT  •  ARTIFICIAL INTELLIGENCE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73952"/>
            <a:ext cx="50292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35D3D2"/>
                </a:solidFill>
                <a:latin typeface="Aptos"/>
              </a:rPr>
              <a:t>03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572768"/>
            <a:ext cx="5074920" cy="4480560"/>
          </a:xfrm>
          <a:prstGeom prst="roundRect">
            <a:avLst/>
          </a:prstGeom>
          <a:solidFill>
            <a:srgbClr val="111D32"/>
          </a:solidFill>
          <a:ln w="10160">
            <a:solidFill>
              <a:srgbClr val="2F44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810512"/>
            <a:ext cx="448056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600" b="1">
                <a:solidFill>
                  <a:srgbClr val="FFBE5C"/>
                </a:solidFill>
                <a:latin typeface="Aptos"/>
              </a:rPr>
              <a:t>WHY RULE-BASED CHECKS STRUGGLE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331720"/>
            <a:ext cx="4526280" cy="3337560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>
              <a:spcAft>
                <a:spcPts val="1200"/>
              </a:spcAft>
            </a:pPr>
            <a:r>
              <a:rPr sz="1500">
                <a:solidFill>
                  <a:srgbClr val="35D3D2"/>
                </a:solidFill>
                <a:latin typeface="Aptos"/>
              </a:rPr>
              <a:t>• </a:t>
            </a:r>
            <a:r>
              <a:rPr b="1" sz="1500">
                <a:solidFill>
                  <a:srgbClr val="35D3D2"/>
                </a:solidFill>
                <a:latin typeface="Aptos"/>
              </a:rPr>
              <a:t>Rigidity — </a:t>
            </a:r>
            <a:r>
              <a:rPr sz="1500">
                <a:solidFill>
                  <a:srgbClr val="F1F6FF"/>
                </a:solidFill>
                <a:latin typeface="Aptos"/>
              </a:rPr>
              <a:t>manual rules lag behind changing fraud tactics.</a:t>
            </a:r>
          </a:p>
          <a:p>
            <a:pPr>
              <a:spcAft>
                <a:spcPts val="1200"/>
              </a:spcAft>
            </a:pPr>
            <a:r>
              <a:rPr sz="1500">
                <a:solidFill>
                  <a:srgbClr val="35D3D2"/>
                </a:solidFill>
                <a:latin typeface="Aptos"/>
              </a:rPr>
              <a:t>• </a:t>
            </a:r>
            <a:r>
              <a:rPr b="1" sz="1500">
                <a:solidFill>
                  <a:srgbClr val="35D3D2"/>
                </a:solidFill>
                <a:latin typeface="Aptos"/>
              </a:rPr>
              <a:t>False positives — </a:t>
            </a:r>
            <a:r>
              <a:rPr sz="1500">
                <a:solidFill>
                  <a:srgbClr val="F1F6FF"/>
                </a:solidFill>
                <a:latin typeface="Aptos"/>
              </a:rPr>
              <a:t>legitimate payments can be blocked.</a:t>
            </a:r>
          </a:p>
          <a:p>
            <a:pPr>
              <a:spcAft>
                <a:spcPts val="1200"/>
              </a:spcAft>
            </a:pPr>
            <a:r>
              <a:rPr sz="1500">
                <a:solidFill>
                  <a:srgbClr val="35D3D2"/>
                </a:solidFill>
                <a:latin typeface="Aptos"/>
              </a:rPr>
              <a:t>• </a:t>
            </a:r>
            <a:r>
              <a:rPr b="1" sz="1500">
                <a:solidFill>
                  <a:srgbClr val="35D3D2"/>
                </a:solidFill>
                <a:latin typeface="Aptos"/>
              </a:rPr>
              <a:t>Complex patterns — </a:t>
            </a:r>
            <a:r>
              <a:rPr sz="1500">
                <a:solidFill>
                  <a:srgbClr val="F1F6FF"/>
                </a:solidFill>
                <a:latin typeface="Aptos"/>
              </a:rPr>
              <a:t>fraud can span time, location, device and behavior.</a:t>
            </a:r>
          </a:p>
          <a:p>
            <a:pPr>
              <a:spcAft>
                <a:spcPts val="1200"/>
              </a:spcAft>
            </a:pPr>
            <a:r>
              <a:rPr sz="1500">
                <a:solidFill>
                  <a:srgbClr val="35D3D2"/>
                </a:solidFill>
                <a:latin typeface="Aptos"/>
              </a:rPr>
              <a:t>• </a:t>
            </a:r>
            <a:r>
              <a:rPr b="1" sz="1500">
                <a:solidFill>
                  <a:srgbClr val="35D3D2"/>
                </a:solidFill>
                <a:latin typeface="Aptos"/>
              </a:rPr>
              <a:t>Scale — </a:t>
            </a:r>
            <a:r>
              <a:rPr sz="1500">
                <a:solidFill>
                  <a:srgbClr val="F1F6FF"/>
                </a:solidFill>
                <a:latin typeface="Aptos"/>
              </a:rPr>
              <a:t>high-volume transaction streams are difficult to manage with growing rule sets.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89320" y="1572768"/>
            <a:ext cx="5532120" cy="4480560"/>
          </a:xfrm>
          <a:prstGeom prst="roundRect">
            <a:avLst/>
          </a:prstGeom>
          <a:solidFill>
            <a:srgbClr val="111D32"/>
          </a:solidFill>
          <a:ln w="10160">
            <a:solidFill>
              <a:srgbClr val="2F44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63640" y="1810512"/>
            <a:ext cx="484632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600" b="1">
                <a:solidFill>
                  <a:srgbClr val="35D3D2"/>
                </a:solidFill>
                <a:latin typeface="Aptos"/>
              </a:rPr>
              <a:t>PROJECT OBJECTIVES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63640" y="2331720"/>
            <a:ext cx="4800600" cy="3383280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>
              <a:spcAft>
                <a:spcPts val="1200"/>
              </a:spcAft>
            </a:pPr>
            <a:r>
              <a:rPr sz="1500">
                <a:solidFill>
                  <a:srgbClr val="35D3D2"/>
                </a:solidFill>
                <a:latin typeface="Aptos"/>
              </a:rPr>
              <a:t>• </a:t>
            </a:r>
            <a:r>
              <a:rPr b="1" sz="1500">
                <a:solidFill>
                  <a:srgbClr val="35D3D2"/>
                </a:solidFill>
                <a:latin typeface="Aptos"/>
              </a:rPr>
              <a:t>1. Detect risk — </a:t>
            </a:r>
            <a:r>
              <a:rPr sz="1500">
                <a:solidFill>
                  <a:srgbClr val="F1F6FF"/>
                </a:solidFill>
                <a:latin typeface="Aptos"/>
              </a:rPr>
              <a:t>score transactions using a learned ML model.</a:t>
            </a:r>
          </a:p>
          <a:p>
            <a:pPr>
              <a:spcAft>
                <a:spcPts val="1200"/>
              </a:spcAft>
            </a:pPr>
            <a:r>
              <a:rPr sz="1500">
                <a:solidFill>
                  <a:srgbClr val="35D3D2"/>
                </a:solidFill>
                <a:latin typeface="Aptos"/>
              </a:rPr>
              <a:t>• </a:t>
            </a:r>
            <a:r>
              <a:rPr b="1" sz="1500">
                <a:solidFill>
                  <a:srgbClr val="35D3D2"/>
                </a:solidFill>
                <a:latin typeface="Aptos"/>
              </a:rPr>
              <a:t>2. Support review — </a:t>
            </a:r>
            <a:r>
              <a:rPr sz="1500">
                <a:solidFill>
                  <a:srgbClr val="F1F6FF"/>
                </a:solidFill>
                <a:latin typeface="Aptos"/>
              </a:rPr>
              <a:t>show risk distribution and transaction-level details.</a:t>
            </a:r>
          </a:p>
          <a:p>
            <a:pPr>
              <a:spcAft>
                <a:spcPts val="1200"/>
              </a:spcAft>
            </a:pPr>
            <a:r>
              <a:rPr sz="1500">
                <a:solidFill>
                  <a:srgbClr val="35D3D2"/>
                </a:solidFill>
                <a:latin typeface="Aptos"/>
              </a:rPr>
              <a:t>• </a:t>
            </a:r>
            <a:r>
              <a:rPr b="1" sz="1500">
                <a:solidFill>
                  <a:srgbClr val="35D3D2"/>
                </a:solidFill>
                <a:latin typeface="Aptos"/>
              </a:rPr>
              <a:t>3. Explain predictions — </a:t>
            </a:r>
            <a:r>
              <a:rPr sz="1500">
                <a:solidFill>
                  <a:srgbClr val="F1F6FF"/>
                </a:solidFill>
                <a:latin typeface="Aptos"/>
              </a:rPr>
              <a:t>provide feature-attribution-style context.</a:t>
            </a:r>
          </a:p>
          <a:p>
            <a:pPr>
              <a:spcAft>
                <a:spcPts val="1200"/>
              </a:spcAft>
            </a:pPr>
            <a:r>
              <a:rPr sz="1500">
                <a:solidFill>
                  <a:srgbClr val="35D3D2"/>
                </a:solidFill>
                <a:latin typeface="Aptos"/>
              </a:rPr>
              <a:t>• </a:t>
            </a:r>
            <a:r>
              <a:rPr b="1" sz="1500">
                <a:solidFill>
                  <a:srgbClr val="35D3D2"/>
                </a:solidFill>
                <a:latin typeface="Aptos"/>
              </a:rPr>
              <a:t>4. Improve access — </a:t>
            </a:r>
            <a:r>
              <a:rPr sz="1500">
                <a:solidFill>
                  <a:srgbClr val="F1F6FF"/>
                </a:solidFill>
                <a:latin typeface="Aptos"/>
              </a:rPr>
              <a:t>allow CSV batch predictions and natural-language queries.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0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972800" cy="4754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2700" b="1">
                <a:solidFill>
                  <a:srgbClr val="F1F6FF"/>
                </a:solidFill>
                <a:latin typeface="Aptos"/>
              </a:rPr>
              <a:t>Proposal vs. Developed Website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59536"/>
            <a:ext cx="1088136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150" b="0">
                <a:solidFill>
                  <a:srgbClr val="A6B7CD"/>
                </a:solidFill>
                <a:latin typeface="Aptos"/>
              </a:rPr>
              <a:t>Key alignment and the changes made when moving from plan to working product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43584"/>
            <a:ext cx="685800" cy="41148"/>
          </a:xfrm>
          <a:prstGeom prst="rect">
            <a:avLst/>
          </a:prstGeom>
          <a:solidFill>
            <a:srgbClr val="35D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510528"/>
            <a:ext cx="804672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800" b="0">
                <a:solidFill>
                  <a:srgbClr val="A6B7CD"/>
                </a:solidFill>
                <a:latin typeface="Aptos"/>
              </a:rPr>
              <a:t>SECUREBANK AI  •  MICRO-PROJECT  •  ARTIFICIAL INTELLIGENCE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73952"/>
            <a:ext cx="50292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35D3D2"/>
                </a:solidFill>
                <a:latin typeface="Aptos"/>
              </a:rPr>
              <a:t>04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58368" y="1600200"/>
          <a:ext cx="10881360" cy="4434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8880"/>
                <a:gridCol w="5074920"/>
                <a:gridCol w="3337560"/>
              </a:tblGrid>
              <a:tr h="633548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150" b="1">
                          <a:solidFill>
                            <a:srgbClr val="35D3D2"/>
                          </a:solidFill>
                          <a:latin typeface="Aptos"/>
                        </a:defRPr>
                      </a:pPr>
                      <a:r>
                        <a:t>Proposal / original PPT</a:t>
                      </a:r>
                    </a:p>
                  </a:txBody>
                  <a:tcPr marL="109728" marR="109728" marT="64008" marB="45720">
                    <a:solidFill>
                      <a:srgbClr val="1627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150" b="1">
                          <a:solidFill>
                            <a:srgbClr val="35D3D2"/>
                          </a:solidFill>
                          <a:latin typeface="Aptos"/>
                        </a:defRPr>
                      </a:pPr>
                      <a:r>
                        <a:t>Developed website description</a:t>
                      </a:r>
                    </a:p>
                  </a:txBody>
                  <a:tcPr marL="109728" marR="109728" marT="64008" marB="45720">
                    <a:solidFill>
                      <a:srgbClr val="1627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150" b="1">
                          <a:solidFill>
                            <a:srgbClr val="35D3D2"/>
                          </a:solidFill>
                          <a:latin typeface="Aptos"/>
                        </a:defRPr>
                      </a:pPr>
                      <a:r>
                        <a:t>Status</a:t>
                      </a:r>
                    </a:p>
                  </a:txBody>
                  <a:tcPr marL="109728" marR="109728" marT="64008" marB="45720">
                    <a:solidFill>
                      <a:srgbClr val="162740"/>
                    </a:solidFill>
                  </a:tcPr>
                </a:tc>
              </a:tr>
              <a:tr h="633548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50" b="0">
                          <a:solidFill>
                            <a:srgbClr val="F1F6FF"/>
                          </a:solidFill>
                          <a:latin typeface="Aptos"/>
                        </a:defRPr>
                      </a:pPr>
                      <a:r>
                        <a:t>Compare multiple model families</a:t>
                      </a:r>
                    </a:p>
                  </a:txBody>
                  <a:tcPr marL="109728" marR="109728" marT="64008" marB="45720">
                    <a:solidFill>
                      <a:srgbClr val="111D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50" b="0">
                          <a:solidFill>
                            <a:srgbClr val="F1F6FF"/>
                          </a:solidFill>
                          <a:latin typeface="Aptos"/>
                        </a:defRPr>
                      </a:pPr>
                      <a:r>
                        <a:t>XGBoost is the stated core model</a:t>
                      </a:r>
                    </a:p>
                  </a:txBody>
                  <a:tcPr marL="109728" marR="109728" marT="64008" marB="45720">
                    <a:solidFill>
                      <a:srgbClr val="111D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50" b="0">
                          <a:solidFill>
                            <a:srgbClr val="F1F6FF"/>
                          </a:solidFill>
                          <a:latin typeface="Aptos"/>
                        </a:defRPr>
                      </a:pPr>
                      <a:r>
                        <a:t>Narrowed to one main model</a:t>
                      </a:r>
                    </a:p>
                  </a:txBody>
                  <a:tcPr marL="109728" marR="109728" marT="64008" marB="45720">
                    <a:solidFill>
                      <a:srgbClr val="111D32"/>
                    </a:solidFill>
                  </a:tcPr>
                </a:tc>
              </a:tr>
              <a:tr h="633548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50" b="0">
                          <a:solidFill>
                            <a:srgbClr val="F1F6FF"/>
                          </a:solidFill>
                          <a:latin typeface="Aptos"/>
                        </a:defRPr>
                      </a:pPr>
                      <a:r>
                        <a:t>SHAP or LIME explainability</a:t>
                      </a:r>
                    </a:p>
                  </a:txBody>
                  <a:tcPr marL="109728" marR="109728" marT="64008" marB="45720">
                    <a:solidFill>
                      <a:srgbClr val="0D172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50" b="0">
                          <a:solidFill>
                            <a:srgbClr val="F1F6FF"/>
                          </a:solidFill>
                          <a:latin typeface="Aptos"/>
                        </a:defRPr>
                      </a:pPr>
                      <a:r>
                        <a:t>SHAP-style feature attribution</a:t>
                      </a:r>
                    </a:p>
                  </a:txBody>
                  <a:tcPr marL="109728" marR="109728" marT="64008" marB="45720">
                    <a:solidFill>
                      <a:srgbClr val="0D172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50" b="0">
                          <a:solidFill>
                            <a:srgbClr val="F1F6FF"/>
                          </a:solidFill>
                          <a:latin typeface="Aptos"/>
                        </a:defRPr>
                      </a:pPr>
                      <a:r>
                        <a:t>Concept aligned; exact library/implementation not independently verified</a:t>
                      </a:r>
                    </a:p>
                  </a:txBody>
                  <a:tcPr marL="109728" marR="109728" marT="64008" marB="45720">
                    <a:solidFill>
                      <a:srgbClr val="0D1729"/>
                    </a:solidFill>
                  </a:tcPr>
                </a:tc>
              </a:tr>
              <a:tr h="633548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50" b="0">
                          <a:solidFill>
                            <a:srgbClr val="F1F6FF"/>
                          </a:solidFill>
                          <a:latin typeface="Aptos"/>
                        </a:defRPr>
                      </a:pPr>
                      <a:r>
                        <a:t>Conceptual streaming + REST API</a:t>
                      </a:r>
                    </a:p>
                  </a:txBody>
                  <a:tcPr marL="109728" marR="109728" marT="64008" marB="45720">
                    <a:solidFill>
                      <a:srgbClr val="111D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50" b="0">
                          <a:solidFill>
                            <a:srgbClr val="F1F6FF"/>
                          </a:solidFill>
                          <a:latin typeface="Aptos"/>
                        </a:defRPr>
                      </a:pPr>
                      <a:r>
                        <a:t>Live transaction queue and risk dashboard</a:t>
                      </a:r>
                    </a:p>
                  </a:txBody>
                  <a:tcPr marL="109728" marR="109728" marT="64008" marB="45720">
                    <a:solidFill>
                      <a:srgbClr val="111D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50" b="0">
                          <a:solidFill>
                            <a:srgbClr val="F1F6FF"/>
                          </a:solidFill>
                          <a:latin typeface="Aptos"/>
                        </a:defRPr>
                      </a:pPr>
                      <a:r>
                        <a:t>UI workflow described; production payment-stream integration not confirmed</a:t>
                      </a:r>
                    </a:p>
                  </a:txBody>
                  <a:tcPr marL="109728" marR="109728" marT="64008" marB="45720">
                    <a:solidFill>
                      <a:srgbClr val="111D32"/>
                    </a:solidFill>
                  </a:tcPr>
                </a:tc>
              </a:tr>
              <a:tr h="633548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50" b="0">
                          <a:solidFill>
                            <a:srgbClr val="F1F6FF"/>
                          </a:solidFill>
                          <a:latin typeface="Aptos"/>
                        </a:defRPr>
                      </a:pPr>
                      <a:r>
                        <a:t>Periodic retraining / feedback loop</a:t>
                      </a:r>
                    </a:p>
                  </a:txBody>
                  <a:tcPr marL="109728" marR="109728" marT="64008" marB="45720">
                    <a:solidFill>
                      <a:srgbClr val="0D172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50" b="0">
                          <a:solidFill>
                            <a:srgbClr val="F1F6FF"/>
                          </a:solidFill>
                          <a:latin typeface="Aptos"/>
                        </a:defRPr>
                      </a:pPr>
                      <a:r>
                        <a:t>Not listed among current website features</a:t>
                      </a:r>
                    </a:p>
                  </a:txBody>
                  <a:tcPr marL="109728" marR="109728" marT="64008" marB="45720">
                    <a:solidFill>
                      <a:srgbClr val="0D172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50" b="0">
                          <a:solidFill>
                            <a:srgbClr val="F1F6FF"/>
                          </a:solidFill>
                          <a:latin typeface="Aptos"/>
                        </a:defRPr>
                      </a:pPr>
                      <a:r>
                        <a:t>Future scope unless implemented separately</a:t>
                      </a:r>
                    </a:p>
                  </a:txBody>
                  <a:tcPr marL="109728" marR="109728" marT="64008" marB="45720">
                    <a:solidFill>
                      <a:srgbClr val="0D1729"/>
                    </a:solidFill>
                  </a:tcPr>
                </a:tc>
              </a:tr>
              <a:tr h="633548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50" b="0">
                          <a:solidFill>
                            <a:srgbClr val="F1F6FF"/>
                          </a:solidFill>
                          <a:latin typeface="Aptos"/>
                        </a:defRPr>
                      </a:pPr>
                      <a:r>
                        <a:t>Evaluate with Precision, Recall, F1, ROC/PR AUC</a:t>
                      </a:r>
                    </a:p>
                  </a:txBody>
                  <a:tcPr marL="109728" marR="109728" marT="64008" marB="45720">
                    <a:solidFill>
                      <a:srgbClr val="111D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50" b="0">
                          <a:solidFill>
                            <a:srgbClr val="F1F6FF"/>
                          </a:solidFill>
                          <a:latin typeface="Aptos"/>
                        </a:defRPr>
                      </a:pPr>
                      <a:r>
                        <a:t>Dashboard performance metrics are present</a:t>
                      </a:r>
                    </a:p>
                  </a:txBody>
                  <a:tcPr marL="109728" marR="109728" marT="64008" marB="45720">
                    <a:solidFill>
                      <a:srgbClr val="111D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50" b="0">
                          <a:solidFill>
                            <a:srgbClr val="F1F6FF"/>
                          </a:solidFill>
                          <a:latin typeface="Aptos"/>
                        </a:defRPr>
                      </a:pPr>
                      <a:r>
                        <a:t>Exact values and evaluation protocol not supplied</a:t>
                      </a:r>
                    </a:p>
                  </a:txBody>
                  <a:tcPr marL="109728" marR="109728" marT="64008" marB="45720">
                    <a:solidFill>
                      <a:srgbClr val="111D32"/>
                    </a:solidFill>
                  </a:tcPr>
                </a:tc>
              </a:tr>
              <a:tr h="633552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50" b="0">
                          <a:solidFill>
                            <a:srgbClr val="F1F6FF"/>
                          </a:solidFill>
                          <a:latin typeface="Aptos"/>
                        </a:defRPr>
                      </a:pPr>
                      <a:r>
                        <a:t>Deploy model for scoring</a:t>
                      </a:r>
                    </a:p>
                  </a:txBody>
                  <a:tcPr marL="109728" marR="109728" marT="64008" marB="45720">
                    <a:solidFill>
                      <a:srgbClr val="0D172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50" b="0">
                          <a:solidFill>
                            <a:srgbClr val="F1F6FF"/>
                          </a:solidFill>
                          <a:latin typeface="Aptos"/>
                        </a:defRPr>
                      </a:pPr>
                      <a:r>
                        <a:t>CSV batch prediction + transaction scoring</a:t>
                      </a:r>
                    </a:p>
                  </a:txBody>
                  <a:tcPr marL="109728" marR="109728" marT="64008" marB="45720">
                    <a:solidFill>
                      <a:srgbClr val="0D172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50" b="0">
                          <a:solidFill>
                            <a:srgbClr val="F1F6FF"/>
                          </a:solidFill>
                          <a:latin typeface="Aptos"/>
                        </a:defRPr>
                      </a:pPr>
                      <a:r>
                        <a:t>Implemented workflow described</a:t>
                      </a:r>
                    </a:p>
                  </a:txBody>
                  <a:tcPr marL="109728" marR="109728" marT="64008" marB="45720">
                    <a:solidFill>
                      <a:srgbClr val="0D1729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13232" y="6126480"/>
            <a:ext cx="1078992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950" b="0">
                <a:solidFill>
                  <a:srgbClr val="FFBE5C"/>
                </a:solidFill>
                <a:latin typeface="Aptos"/>
              </a:rPr>
              <a:t>The proposal is broader than the current implementation description; unconfirmed items are not presented as completed features.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0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972800" cy="4754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2700" b="1">
                <a:solidFill>
                  <a:srgbClr val="F1F6FF"/>
                </a:solidFill>
                <a:latin typeface="Aptos"/>
              </a:rPr>
              <a:t>System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59536"/>
            <a:ext cx="1088136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150" b="0">
                <a:solidFill>
                  <a:srgbClr val="A6B7CD"/>
                </a:solidFill>
                <a:latin typeface="Aptos"/>
              </a:rPr>
              <a:t>High-level view of the current website based on the supplied implementation description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43584"/>
            <a:ext cx="685800" cy="41148"/>
          </a:xfrm>
          <a:prstGeom prst="rect">
            <a:avLst/>
          </a:prstGeom>
          <a:solidFill>
            <a:srgbClr val="35D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510528"/>
            <a:ext cx="804672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800" b="0">
                <a:solidFill>
                  <a:srgbClr val="A6B7CD"/>
                </a:solidFill>
                <a:latin typeface="Aptos"/>
              </a:rPr>
              <a:t>SECUREBANK AI  •  MICRO-PROJECT  •  ARTIFICIAL INTELLIGENCE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73952"/>
            <a:ext cx="50292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35D3D2"/>
                </a:solidFill>
                <a:latin typeface="Aptos"/>
              </a:rPr>
              <a:t>05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057400"/>
            <a:ext cx="1783080" cy="1508760"/>
          </a:xfrm>
          <a:prstGeom prst="roundRect">
            <a:avLst/>
          </a:prstGeom>
          <a:solidFill>
            <a:srgbClr val="162740"/>
          </a:solidFill>
          <a:ln w="10160">
            <a:solidFill>
              <a:srgbClr val="2F44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8096" y="2267712"/>
            <a:ext cx="1572768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35D3D2"/>
                </a:solidFill>
                <a:latin typeface="Aptos"/>
              </a:rPr>
              <a:t>Transaction
Input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" y="2862072"/>
            <a:ext cx="1572768" cy="4754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F1F6FF"/>
                </a:solidFill>
                <a:latin typeface="Aptos"/>
              </a:rPr>
              <a:t>Live queue /
CSV upload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926080" y="2057400"/>
            <a:ext cx="1783080" cy="1508760"/>
          </a:xfrm>
          <a:prstGeom prst="roundRect">
            <a:avLst/>
          </a:prstGeom>
          <a:solidFill>
            <a:srgbClr val="162740"/>
          </a:solidFill>
          <a:ln w="10160">
            <a:solidFill>
              <a:srgbClr val="2F44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035808" y="2267712"/>
            <a:ext cx="1572768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538CFF"/>
                </a:solidFill>
                <a:latin typeface="Aptos"/>
              </a:rPr>
              <a:t>Feature
Signals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35808" y="2862072"/>
            <a:ext cx="1572768" cy="4754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F1F6FF"/>
                </a:solidFill>
                <a:latin typeface="Aptos"/>
              </a:rPr>
              <a:t>Velocity • device
location • spending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193792" y="2057400"/>
            <a:ext cx="1783080" cy="1508760"/>
          </a:xfrm>
          <a:prstGeom prst="roundRect">
            <a:avLst/>
          </a:prstGeom>
          <a:solidFill>
            <a:srgbClr val="162740"/>
          </a:solidFill>
          <a:ln w="10160">
            <a:solidFill>
              <a:srgbClr val="2F44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03520" y="2267712"/>
            <a:ext cx="1572768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4DDCA0"/>
                </a:solidFill>
                <a:latin typeface="Aptos"/>
              </a:rPr>
              <a:t>XGBoost
Scorer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0" y="2862072"/>
            <a:ext cx="1572768" cy="4754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F1F6FF"/>
                </a:solidFill>
                <a:latin typeface="Aptos"/>
              </a:rPr>
              <a:t>Risk score
0 to 1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61504" y="2057400"/>
            <a:ext cx="1783080" cy="1508760"/>
          </a:xfrm>
          <a:prstGeom prst="roundRect">
            <a:avLst/>
          </a:prstGeom>
          <a:solidFill>
            <a:srgbClr val="162740"/>
          </a:solidFill>
          <a:ln w="10160">
            <a:solidFill>
              <a:srgbClr val="2F44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71231" y="2267712"/>
            <a:ext cx="1572768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BE5C"/>
                </a:solidFill>
                <a:latin typeface="Aptos"/>
              </a:rPr>
              <a:t>Explanation
Layer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71231" y="2862072"/>
            <a:ext cx="1572768" cy="4754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F1F6FF"/>
                </a:solidFill>
                <a:latin typeface="Aptos"/>
              </a:rPr>
              <a:t>SHAP-style feature
attribution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729216" y="2057400"/>
            <a:ext cx="1783080" cy="1508760"/>
          </a:xfrm>
          <a:prstGeom prst="roundRect">
            <a:avLst/>
          </a:prstGeom>
          <a:solidFill>
            <a:srgbClr val="162740"/>
          </a:solidFill>
          <a:ln w="10160">
            <a:solidFill>
              <a:srgbClr val="2F44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838944" y="2267712"/>
            <a:ext cx="1572768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35D3D2"/>
                </a:solidFill>
                <a:latin typeface="Aptos"/>
              </a:rPr>
              <a:t>Admin
Dashboard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838944" y="2862072"/>
            <a:ext cx="1572768" cy="4754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F1F6FF"/>
                </a:solidFill>
                <a:latin typeface="Aptos"/>
              </a:rPr>
              <a:t>Review • charts
Gemini assistant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2487168" y="2788920"/>
            <a:ext cx="384048" cy="0"/>
          </a:xfrm>
          <a:prstGeom prst="line">
            <a:avLst/>
          </a:prstGeom>
          <a:ln w="25400">
            <a:solidFill>
              <a:srgbClr val="35D3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4754880" y="2788920"/>
            <a:ext cx="384048" cy="0"/>
          </a:xfrm>
          <a:prstGeom prst="line">
            <a:avLst/>
          </a:prstGeom>
          <a:ln w="25400">
            <a:solidFill>
              <a:srgbClr val="35D3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7022592" y="2788920"/>
            <a:ext cx="384048" cy="0"/>
          </a:xfrm>
          <a:prstGeom prst="line">
            <a:avLst/>
          </a:prstGeom>
          <a:ln w="25400">
            <a:solidFill>
              <a:srgbClr val="35D3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9290304" y="2788920"/>
            <a:ext cx="384048" cy="0"/>
          </a:xfrm>
          <a:prstGeom prst="line">
            <a:avLst/>
          </a:prstGeom>
          <a:ln w="25400">
            <a:solidFill>
              <a:srgbClr val="35D3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914400" y="4160520"/>
            <a:ext cx="4846320" cy="1051560"/>
          </a:xfrm>
          <a:prstGeom prst="roundRect">
            <a:avLst/>
          </a:prstGeom>
          <a:solidFill>
            <a:srgbClr val="111D32"/>
          </a:solidFill>
          <a:ln w="10160">
            <a:solidFill>
              <a:srgbClr val="2F44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4370832"/>
            <a:ext cx="438912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200" b="1">
                <a:solidFill>
                  <a:srgbClr val="35D3D2"/>
                </a:solidFill>
                <a:latin typeface="Aptos"/>
              </a:rPr>
              <a:t>ADMIN ACCESS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43000" y="4709160"/>
            <a:ext cx="434340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200" b="0">
                <a:solidFill>
                  <a:srgbClr val="F1F6FF"/>
                </a:solidFill>
                <a:latin typeface="Aptos"/>
              </a:rPr>
              <a:t>Authentication gates access to dashboard tools.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080760" y="4160520"/>
            <a:ext cx="5074920" cy="1051560"/>
          </a:xfrm>
          <a:prstGeom prst="roundRect">
            <a:avLst/>
          </a:prstGeom>
          <a:solidFill>
            <a:srgbClr val="111D32"/>
          </a:solidFill>
          <a:ln w="10160">
            <a:solidFill>
              <a:srgbClr val="2F44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09360" y="4370832"/>
            <a:ext cx="457200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200" b="1">
                <a:solidFill>
                  <a:srgbClr val="4DDCA0"/>
                </a:solidFill>
                <a:latin typeface="Aptos"/>
              </a:rPr>
              <a:t>CONVERSATIONAL INVESTIGATION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09360" y="4709160"/>
            <a:ext cx="457200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200" b="0">
                <a:solidFill>
                  <a:srgbClr val="F1F6FF"/>
                </a:solidFill>
                <a:latin typeface="Aptos"/>
              </a:rPr>
              <a:t>Gemini agent answers natural-language questions about flagged transactions.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" y="5715000"/>
            <a:ext cx="10698480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000" b="0">
                <a:solidFill>
                  <a:srgbClr val="A6B7CD"/>
                </a:solidFill>
                <a:latin typeface="Aptos"/>
              </a:rPr>
              <a:t>Note: the exact deployment topology, database, API framework, and production stream integration were not specified in the supplied website description.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0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972800" cy="4754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2700" b="1">
                <a:solidFill>
                  <a:srgbClr val="F1F6FF"/>
                </a:solidFill>
                <a:latin typeface="Aptos"/>
              </a:rPr>
              <a:t>Model &amp; Transaction Signals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59536"/>
            <a:ext cx="1088136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150" b="0">
                <a:solidFill>
                  <a:srgbClr val="A6B7CD"/>
                </a:solidFill>
                <a:latin typeface="Aptos"/>
              </a:rPr>
              <a:t>The current implementation description centers on gradient-boosted trees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43584"/>
            <a:ext cx="685800" cy="41148"/>
          </a:xfrm>
          <a:prstGeom prst="rect">
            <a:avLst/>
          </a:prstGeom>
          <a:solidFill>
            <a:srgbClr val="35D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510528"/>
            <a:ext cx="804672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800" b="0">
                <a:solidFill>
                  <a:srgbClr val="A6B7CD"/>
                </a:solidFill>
                <a:latin typeface="Aptos"/>
              </a:rPr>
              <a:t>SECUREBANK AI  •  MICRO-PROJECT  •  ARTIFICIAL INTELLIGENCE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73952"/>
            <a:ext cx="50292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35D3D2"/>
                </a:solidFill>
                <a:latin typeface="Aptos"/>
              </a:rPr>
              <a:t>06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572768"/>
            <a:ext cx="3657600" cy="4434840"/>
          </a:xfrm>
          <a:prstGeom prst="roundRect">
            <a:avLst/>
          </a:prstGeom>
          <a:solidFill>
            <a:srgbClr val="111D32"/>
          </a:solidFill>
          <a:ln w="10160">
            <a:solidFill>
              <a:srgbClr val="2F44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1828800"/>
            <a:ext cx="310896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2200" b="1">
                <a:solidFill>
                  <a:srgbClr val="35D3D2"/>
                </a:solidFill>
                <a:latin typeface="Aptos"/>
              </a:rPr>
              <a:t>XGBOOST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395728"/>
            <a:ext cx="3063240" cy="6583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700" b="1">
                <a:solidFill>
                  <a:srgbClr val="F1F6FF"/>
                </a:solidFill>
                <a:latin typeface="Aptos"/>
              </a:rPr>
              <a:t>Main fraud scoring model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3246120"/>
            <a:ext cx="3063240" cy="1417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400" b="0">
                <a:solidFill>
                  <a:srgbClr val="A6B7CD"/>
                </a:solidFill>
                <a:latin typeface="Aptos"/>
              </a:rPr>
              <a:t>Uses structured transaction features to estimate the likelihood that a transaction is suspicious.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32688" y="4983480"/>
            <a:ext cx="3063240" cy="640080"/>
          </a:xfrm>
          <a:prstGeom prst="roundRect">
            <a:avLst/>
          </a:prstGeom>
          <a:solidFill>
            <a:srgbClr val="162740"/>
          </a:solidFill>
          <a:ln w="10160">
            <a:solidFill>
              <a:srgbClr val="2F44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69848" y="5157216"/>
            <a:ext cx="278892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4DDCA0"/>
                </a:solidFill>
                <a:latin typeface="Aptos"/>
              </a:rPr>
              <a:t>Risk score: 0.00 – 1.00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0" y="1755648"/>
            <a:ext cx="612648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500" b="1">
                <a:solidFill>
                  <a:srgbClr val="35D3D2"/>
                </a:solidFill>
                <a:latin typeface="Aptos"/>
              </a:rPr>
              <a:t>FEATURE GROUPS DESCRIBED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709160" y="2331720"/>
            <a:ext cx="6629400" cy="548640"/>
          </a:xfrm>
          <a:prstGeom prst="roundRect">
            <a:avLst/>
          </a:prstGeom>
          <a:solidFill>
            <a:srgbClr val="111D32"/>
          </a:solidFill>
          <a:ln w="10160">
            <a:solidFill>
              <a:srgbClr val="2F44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919472" y="2450591"/>
            <a:ext cx="192024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250" b="1">
                <a:solidFill>
                  <a:srgbClr val="35D3D2"/>
                </a:solidFill>
                <a:latin typeface="Aptos"/>
              </a:rPr>
              <a:t>Velocity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0" y="2450591"/>
            <a:ext cx="416052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150" b="0">
                <a:solidFill>
                  <a:srgbClr val="F1F6FF"/>
                </a:solidFill>
                <a:latin typeface="Aptos"/>
              </a:rPr>
              <a:t>Transaction frequency and rapid repeats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709160" y="3017520"/>
            <a:ext cx="6629400" cy="548640"/>
          </a:xfrm>
          <a:prstGeom prst="roundRect">
            <a:avLst/>
          </a:prstGeom>
          <a:solidFill>
            <a:srgbClr val="162740"/>
          </a:solidFill>
          <a:ln w="10160">
            <a:solidFill>
              <a:srgbClr val="2F44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919472" y="3136391"/>
            <a:ext cx="192024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250" b="1">
                <a:solidFill>
                  <a:srgbClr val="35D3D2"/>
                </a:solidFill>
                <a:latin typeface="Aptos"/>
              </a:rPr>
              <a:t>Location deviation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0" y="3136391"/>
            <a:ext cx="416052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150" b="0">
                <a:solidFill>
                  <a:srgbClr val="F1F6FF"/>
                </a:solidFill>
                <a:latin typeface="Aptos"/>
              </a:rPr>
              <a:t>Unexpected change from usual location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709160" y="3703320"/>
            <a:ext cx="6629400" cy="548640"/>
          </a:xfrm>
          <a:prstGeom prst="roundRect">
            <a:avLst/>
          </a:prstGeom>
          <a:solidFill>
            <a:srgbClr val="111D32"/>
          </a:solidFill>
          <a:ln w="10160">
            <a:solidFill>
              <a:srgbClr val="2F44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919472" y="3822191"/>
            <a:ext cx="192024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250" b="1">
                <a:solidFill>
                  <a:srgbClr val="35D3D2"/>
                </a:solidFill>
                <a:latin typeface="Aptos"/>
              </a:rPr>
              <a:t>Device fingerprint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0" y="3822191"/>
            <a:ext cx="416052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150" b="0">
                <a:solidFill>
                  <a:srgbClr val="F1F6FF"/>
                </a:solidFill>
                <a:latin typeface="Aptos"/>
              </a:rPr>
              <a:t>Device-level signals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709160" y="4389120"/>
            <a:ext cx="6629400" cy="548640"/>
          </a:xfrm>
          <a:prstGeom prst="roundRect">
            <a:avLst/>
          </a:prstGeom>
          <a:solidFill>
            <a:srgbClr val="162740"/>
          </a:solidFill>
          <a:ln w="10160">
            <a:solidFill>
              <a:srgbClr val="2F44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919472" y="4507992"/>
            <a:ext cx="192024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250" b="1">
                <a:solidFill>
                  <a:srgbClr val="35D3D2"/>
                </a:solidFill>
                <a:latin typeface="Aptos"/>
              </a:rPr>
              <a:t>Merchant category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0" y="4507992"/>
            <a:ext cx="416052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150" b="0">
                <a:solidFill>
                  <a:srgbClr val="F1F6FF"/>
                </a:solidFill>
                <a:latin typeface="Aptos"/>
              </a:rPr>
              <a:t>Merchant / transaction category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709160" y="5074920"/>
            <a:ext cx="6629400" cy="548640"/>
          </a:xfrm>
          <a:prstGeom prst="roundRect">
            <a:avLst/>
          </a:prstGeom>
          <a:solidFill>
            <a:srgbClr val="111D32"/>
          </a:solidFill>
          <a:ln w="10160">
            <a:solidFill>
              <a:srgbClr val="2F44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919472" y="5193792"/>
            <a:ext cx="192024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250" b="1">
                <a:solidFill>
                  <a:srgbClr val="35D3D2"/>
                </a:solidFill>
                <a:latin typeface="Aptos"/>
              </a:rPr>
              <a:t>Spending behavior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0" y="5193792"/>
            <a:ext cx="416052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150" b="0">
                <a:solidFill>
                  <a:srgbClr val="F1F6FF"/>
                </a:solidFill>
                <a:latin typeface="Aptos"/>
              </a:rPr>
              <a:t>Deviation from historical spending patterns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54880" y="5897880"/>
            <a:ext cx="649224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950" b="0">
                <a:solidFill>
                  <a:srgbClr val="FFBE5C"/>
                </a:solidFill>
                <a:latin typeface="Aptos"/>
              </a:rPr>
              <a:t>Use only signals actually available in the deployed model’s input schema.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0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972800" cy="4754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2700" b="1">
                <a:solidFill>
                  <a:srgbClr val="F1F6FF"/>
                </a:solidFill>
                <a:latin typeface="Aptos"/>
              </a:rPr>
              <a:t>Developed Website: Main Capabilities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59536"/>
            <a:ext cx="1088136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150" b="0">
                <a:solidFill>
                  <a:srgbClr val="A6B7CD"/>
                </a:solidFill>
                <a:latin typeface="Aptos"/>
              </a:rPr>
              <a:t>The website description emphasizes an analyst workflow, not only a model demo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43584"/>
            <a:ext cx="685800" cy="41148"/>
          </a:xfrm>
          <a:prstGeom prst="rect">
            <a:avLst/>
          </a:prstGeom>
          <a:solidFill>
            <a:srgbClr val="35D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510528"/>
            <a:ext cx="804672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800" b="0">
                <a:solidFill>
                  <a:srgbClr val="A6B7CD"/>
                </a:solidFill>
                <a:latin typeface="Aptos"/>
              </a:rPr>
              <a:t>SECUREBANK AI  •  MICRO-PROJECT  •  ARTIFICIAL INTELLIGENCE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73952"/>
            <a:ext cx="50292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35D3D2"/>
                </a:solidFill>
                <a:latin typeface="Aptos"/>
              </a:rPr>
              <a:t>07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572768"/>
            <a:ext cx="3337560" cy="1783080"/>
          </a:xfrm>
          <a:prstGeom prst="roundRect">
            <a:avLst/>
          </a:prstGeom>
          <a:solidFill>
            <a:srgbClr val="111D32"/>
          </a:solidFill>
          <a:ln w="10160">
            <a:solidFill>
              <a:srgbClr val="2F44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9536" y="1737360"/>
            <a:ext cx="2935224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600" b="1">
                <a:solidFill>
                  <a:srgbClr val="35D3D2"/>
                </a:solidFill>
                <a:latin typeface="Aptos"/>
              </a:rPr>
              <a:t>Live transaction queue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" y="2148840"/>
            <a:ext cx="2935224" cy="10698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250" b="0">
                <a:solidFill>
                  <a:srgbClr val="F1F6FF"/>
                </a:solidFill>
                <a:latin typeface="Aptos"/>
              </a:rPr>
              <a:t>Review incoming or listed transactions and their assigned risk.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16552" y="1572768"/>
            <a:ext cx="3337560" cy="1783080"/>
          </a:xfrm>
          <a:prstGeom prst="roundRect">
            <a:avLst/>
          </a:prstGeom>
          <a:solidFill>
            <a:srgbClr val="111D32"/>
          </a:solidFill>
          <a:ln w="10160">
            <a:solidFill>
              <a:srgbClr val="2F44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17720" y="1737360"/>
            <a:ext cx="2935224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600" b="1">
                <a:solidFill>
                  <a:srgbClr val="538CFF"/>
                </a:solidFill>
                <a:latin typeface="Aptos"/>
              </a:rPr>
              <a:t>Risk distribution charts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7720" y="2148840"/>
            <a:ext cx="2935224" cy="10698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250" b="0">
                <a:solidFill>
                  <a:srgbClr val="F1F6FF"/>
                </a:solidFill>
                <a:latin typeface="Aptos"/>
              </a:rPr>
              <a:t>See the overall distribution of transaction risk.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74736" y="1572768"/>
            <a:ext cx="3337560" cy="1783080"/>
          </a:xfrm>
          <a:prstGeom prst="roundRect">
            <a:avLst/>
          </a:prstGeom>
          <a:solidFill>
            <a:srgbClr val="111D32"/>
          </a:solidFill>
          <a:ln w="10160">
            <a:solidFill>
              <a:srgbClr val="2F44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75904" y="1737360"/>
            <a:ext cx="2935224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600" b="1">
                <a:solidFill>
                  <a:srgbClr val="4DDCA0"/>
                </a:solidFill>
                <a:latin typeface="Aptos"/>
              </a:rPr>
              <a:t>Model performance metrics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75904" y="2148840"/>
            <a:ext cx="2935224" cy="10698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250" b="0">
                <a:solidFill>
                  <a:srgbClr val="F1F6FF"/>
                </a:solidFill>
                <a:latin typeface="Aptos"/>
              </a:rPr>
              <a:t>Surface evaluation metrics for quick monitoring.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3703320"/>
            <a:ext cx="3337560" cy="1783080"/>
          </a:xfrm>
          <a:prstGeom prst="roundRect">
            <a:avLst/>
          </a:prstGeom>
          <a:solidFill>
            <a:srgbClr val="111D32"/>
          </a:solidFill>
          <a:ln w="10160">
            <a:solidFill>
              <a:srgbClr val="2F44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" y="3867911"/>
            <a:ext cx="2935224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600" b="1">
                <a:solidFill>
                  <a:srgbClr val="FFBE5C"/>
                </a:solidFill>
                <a:latin typeface="Aptos"/>
              </a:rPr>
              <a:t>CSV batch prediction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" y="4279392"/>
            <a:ext cx="2935224" cy="10698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250" b="0">
                <a:solidFill>
                  <a:srgbClr val="F1F6FF"/>
                </a:solidFill>
                <a:latin typeface="Aptos"/>
              </a:rPr>
              <a:t>Upload a batch and score multiple transactions.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416552" y="3703320"/>
            <a:ext cx="3337560" cy="1783080"/>
          </a:xfrm>
          <a:prstGeom prst="roundRect">
            <a:avLst/>
          </a:prstGeom>
          <a:solidFill>
            <a:srgbClr val="111D32"/>
          </a:solidFill>
          <a:ln w="10160">
            <a:solidFill>
              <a:srgbClr val="2F44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617720" y="3867911"/>
            <a:ext cx="2935224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600" b="1">
                <a:solidFill>
                  <a:srgbClr val="35D3D2"/>
                </a:solidFill>
                <a:latin typeface="Aptos"/>
              </a:rPr>
              <a:t>Explainable predictions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17720" y="4279392"/>
            <a:ext cx="2935224" cy="10698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250" b="0">
                <a:solidFill>
                  <a:srgbClr val="F1F6FF"/>
                </a:solidFill>
                <a:latin typeface="Aptos"/>
              </a:rPr>
              <a:t>View feature-attribution-style reasons for a flag.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74736" y="3703320"/>
            <a:ext cx="3337560" cy="1783080"/>
          </a:xfrm>
          <a:prstGeom prst="roundRect">
            <a:avLst/>
          </a:prstGeom>
          <a:solidFill>
            <a:srgbClr val="111D32"/>
          </a:solidFill>
          <a:ln w="10160">
            <a:solidFill>
              <a:srgbClr val="2F44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75904" y="3867911"/>
            <a:ext cx="2935224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600" b="1">
                <a:solidFill>
                  <a:srgbClr val="FF687A"/>
                </a:solidFill>
                <a:latin typeface="Aptos"/>
              </a:rPr>
              <a:t>Admin authentication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75904" y="4279392"/>
            <a:ext cx="2935224" cy="10698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250" b="0">
                <a:solidFill>
                  <a:srgbClr val="F1F6FF"/>
                </a:solidFill>
                <a:latin typeface="Aptos"/>
              </a:rPr>
              <a:t>Restrict access to administrative functionality.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9808" y="5925312"/>
            <a:ext cx="1060704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950" b="0">
                <a:solidFill>
                  <a:srgbClr val="A6B7CD"/>
                </a:solidFill>
                <a:latin typeface="Aptos"/>
              </a:rPr>
              <a:t>The feature list above is based on your written description; no live website URL or screenshots were supplied for direct UI verification.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0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972800" cy="4754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2700" b="1">
                <a:solidFill>
                  <a:srgbClr val="F1F6FF"/>
                </a:solidFill>
                <a:latin typeface="Aptos"/>
              </a:rPr>
              <a:t>Explainable AI + Gemini Assistant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59536"/>
            <a:ext cx="1088136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150" b="0">
                <a:solidFill>
                  <a:srgbClr val="A6B7CD"/>
                </a:solidFill>
                <a:latin typeface="Aptos"/>
              </a:rPr>
              <a:t>Two complementary ways to understand and investigate model output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43584"/>
            <a:ext cx="685800" cy="41148"/>
          </a:xfrm>
          <a:prstGeom prst="rect">
            <a:avLst/>
          </a:prstGeom>
          <a:solidFill>
            <a:srgbClr val="35D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510528"/>
            <a:ext cx="804672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800" b="0">
                <a:solidFill>
                  <a:srgbClr val="A6B7CD"/>
                </a:solidFill>
                <a:latin typeface="Aptos"/>
              </a:rPr>
              <a:t>SECUREBANK AI  •  MICRO-PROJECT  •  ARTIFICIAL INTELLIGENCE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73952"/>
            <a:ext cx="50292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35D3D2"/>
                </a:solidFill>
                <a:latin typeface="Aptos"/>
              </a:rPr>
              <a:t>08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664208"/>
            <a:ext cx="5257800" cy="4160520"/>
          </a:xfrm>
          <a:prstGeom prst="roundRect">
            <a:avLst/>
          </a:prstGeom>
          <a:solidFill>
            <a:srgbClr val="111D32"/>
          </a:solidFill>
          <a:ln w="10160">
            <a:solidFill>
              <a:srgbClr val="2F44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938528"/>
            <a:ext cx="457200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700" b="1">
                <a:solidFill>
                  <a:srgbClr val="35D3D2"/>
                </a:solidFill>
                <a:latin typeface="Aptos"/>
              </a:rPr>
              <a:t>1  FEATURE ATTRIBUTION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514600"/>
            <a:ext cx="4526280" cy="6858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800" b="1">
                <a:solidFill>
                  <a:srgbClr val="F1F6FF"/>
                </a:solidFill>
                <a:latin typeface="Aptos"/>
              </a:rPr>
              <a:t>What signals pushed the risk score higher or lower?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3383280"/>
            <a:ext cx="4526280" cy="1920240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>
              <a:spcAft>
                <a:spcPts val="1000"/>
              </a:spcAft>
            </a:pPr>
            <a:r>
              <a:rPr sz="1300">
                <a:solidFill>
                  <a:srgbClr val="35D3D2"/>
                </a:solidFill>
                <a:latin typeface="Aptos"/>
              </a:rPr>
              <a:t>• </a:t>
            </a:r>
            <a:r>
              <a:rPr sz="1300">
                <a:solidFill>
                  <a:srgbClr val="F1F6FF"/>
                </a:solidFill>
                <a:latin typeface="Aptos"/>
              </a:rPr>
              <a:t>Provides transaction-level context to support human review.</a:t>
            </a:r>
          </a:p>
          <a:p>
            <a:pPr>
              <a:spcAft>
                <a:spcPts val="1000"/>
              </a:spcAft>
            </a:pPr>
            <a:r>
              <a:rPr sz="1300">
                <a:solidFill>
                  <a:srgbClr val="35D3D2"/>
                </a:solidFill>
                <a:latin typeface="Aptos"/>
              </a:rPr>
              <a:t>• </a:t>
            </a:r>
            <a:r>
              <a:rPr sz="1300">
                <a:solidFill>
                  <a:srgbClr val="F1F6FF"/>
                </a:solidFill>
                <a:latin typeface="Aptos"/>
              </a:rPr>
              <a:t>Helps make model decisions more auditable.</a:t>
            </a:r>
          </a:p>
          <a:p>
            <a:pPr>
              <a:spcAft>
                <a:spcPts val="1000"/>
              </a:spcAft>
            </a:pPr>
            <a:r>
              <a:rPr sz="1300">
                <a:solidFill>
                  <a:srgbClr val="35D3D2"/>
                </a:solidFill>
                <a:latin typeface="Aptos"/>
              </a:rPr>
              <a:t>• </a:t>
            </a:r>
            <a:r>
              <a:rPr sz="1300">
                <a:solidFill>
                  <a:srgbClr val="F1F6FF"/>
                </a:solidFill>
                <a:latin typeface="Aptos"/>
              </a:rPr>
              <a:t>The description says “SHAP-style”; the exact explainer library and validation are not confirmed.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664208"/>
            <a:ext cx="5257800" cy="4160520"/>
          </a:xfrm>
          <a:prstGeom prst="roundRect">
            <a:avLst/>
          </a:prstGeom>
          <a:solidFill>
            <a:srgbClr val="111D32"/>
          </a:solidFill>
          <a:ln w="10160">
            <a:solidFill>
              <a:srgbClr val="2F44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938528"/>
            <a:ext cx="457200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700" b="1">
                <a:solidFill>
                  <a:srgbClr val="4DDCA0"/>
                </a:solidFill>
                <a:latin typeface="Aptos"/>
              </a:rPr>
              <a:t>2  GEMINI-POWERED AI AGENT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514600"/>
            <a:ext cx="4526280" cy="6858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800" b="1">
                <a:solidFill>
                  <a:srgbClr val="F1F6FF"/>
                </a:solidFill>
                <a:latin typeface="Aptos"/>
              </a:rPr>
              <a:t>Ask questions in natural language.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3383280"/>
            <a:ext cx="4526280" cy="1920240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>
              <a:spcAft>
                <a:spcPts val="1000"/>
              </a:spcAft>
            </a:pPr>
            <a:r>
              <a:rPr sz="1300">
                <a:solidFill>
                  <a:srgbClr val="35D3D2"/>
                </a:solidFill>
                <a:latin typeface="Aptos"/>
              </a:rPr>
              <a:t>• </a:t>
            </a:r>
            <a:r>
              <a:rPr sz="1300">
                <a:solidFill>
                  <a:srgbClr val="F1F6FF"/>
                </a:solidFill>
                <a:latin typeface="Aptos"/>
              </a:rPr>
              <a:t>Ask why a transaction was flagged.</a:t>
            </a:r>
          </a:p>
          <a:p>
            <a:pPr>
              <a:spcAft>
                <a:spcPts val="1000"/>
              </a:spcAft>
            </a:pPr>
            <a:r>
              <a:rPr sz="1300">
                <a:solidFill>
                  <a:srgbClr val="35D3D2"/>
                </a:solidFill>
                <a:latin typeface="Aptos"/>
              </a:rPr>
              <a:t>• </a:t>
            </a:r>
            <a:r>
              <a:rPr sz="1300">
                <a:solidFill>
                  <a:srgbClr val="F1F6FF"/>
                </a:solidFill>
                <a:latin typeface="Aptos"/>
              </a:rPr>
              <a:t>Get contextual reasoning to guide an administrator’s investigation.</a:t>
            </a:r>
          </a:p>
          <a:p>
            <a:pPr>
              <a:spcAft>
                <a:spcPts val="1000"/>
              </a:spcAft>
            </a:pPr>
            <a:r>
              <a:rPr sz="1300">
                <a:solidFill>
                  <a:srgbClr val="35D3D2"/>
                </a:solidFill>
                <a:latin typeface="Aptos"/>
              </a:rPr>
              <a:t>• </a:t>
            </a:r>
            <a:r>
              <a:rPr sz="1300">
                <a:solidFill>
                  <a:srgbClr val="F1F6FF"/>
                </a:solidFill>
                <a:latin typeface="Aptos"/>
              </a:rPr>
              <a:t>Use as decision support; it should not replace analyst verification.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0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972800" cy="4754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2700" b="1">
                <a:solidFill>
                  <a:srgbClr val="F1F6FF"/>
                </a:solidFill>
                <a:latin typeface="Aptos"/>
              </a:rPr>
              <a:t>Evaluation &amp; Performance Reporting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59536"/>
            <a:ext cx="1088136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150" b="0">
                <a:solidFill>
                  <a:srgbClr val="A6B7CD"/>
                </a:solidFill>
                <a:latin typeface="Aptos"/>
              </a:rPr>
              <a:t>Present verified measurements only; distinguish target claims from measured results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43584"/>
            <a:ext cx="685800" cy="41148"/>
          </a:xfrm>
          <a:prstGeom prst="rect">
            <a:avLst/>
          </a:prstGeom>
          <a:solidFill>
            <a:srgbClr val="35D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510528"/>
            <a:ext cx="804672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800" b="0">
                <a:solidFill>
                  <a:srgbClr val="A6B7CD"/>
                </a:solidFill>
                <a:latin typeface="Aptos"/>
              </a:rPr>
              <a:t>SECUREBANK AI  •  MICRO-PROJECT  •  ARTIFICIAL INTELLIGENCE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73952"/>
            <a:ext cx="50292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35D3D2"/>
                </a:solidFill>
                <a:latin typeface="Aptos"/>
              </a:rPr>
              <a:t>09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627632"/>
            <a:ext cx="5212080" cy="4251960"/>
          </a:xfrm>
          <a:prstGeom prst="roundRect">
            <a:avLst/>
          </a:prstGeom>
          <a:solidFill>
            <a:srgbClr val="111D32"/>
          </a:solidFill>
          <a:ln w="10160">
            <a:solidFill>
              <a:srgbClr val="2F44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874519"/>
            <a:ext cx="448056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600" b="1">
                <a:solidFill>
                  <a:srgbClr val="35D3D2"/>
                </a:solidFill>
                <a:latin typeface="Aptos"/>
              </a:rPr>
              <a:t>METRICS TO REPORT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423160"/>
            <a:ext cx="4526280" cy="2971800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>
              <a:spcAft>
                <a:spcPts val="800"/>
              </a:spcAft>
            </a:pPr>
            <a:r>
              <a:rPr sz="1300">
                <a:solidFill>
                  <a:srgbClr val="35D3D2"/>
                </a:solidFill>
                <a:latin typeface="Aptos"/>
              </a:rPr>
              <a:t>• </a:t>
            </a:r>
            <a:r>
              <a:rPr b="1" sz="1300">
                <a:solidFill>
                  <a:srgbClr val="35D3D2"/>
                </a:solidFill>
                <a:latin typeface="Aptos"/>
              </a:rPr>
              <a:t>Precision — </a:t>
            </a:r>
            <a:r>
              <a:rPr sz="1300">
                <a:solidFill>
                  <a:srgbClr val="F1F6FF"/>
                </a:solidFill>
                <a:latin typeface="Aptos"/>
              </a:rPr>
              <a:t>how many flagged transactions are truly fraudulent.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35D3D2"/>
                </a:solidFill>
                <a:latin typeface="Aptos"/>
              </a:rPr>
              <a:t>• </a:t>
            </a:r>
            <a:r>
              <a:rPr b="1" sz="1300">
                <a:solidFill>
                  <a:srgbClr val="35D3D2"/>
                </a:solidFill>
                <a:latin typeface="Aptos"/>
              </a:rPr>
              <a:t>Recall — </a:t>
            </a:r>
            <a:r>
              <a:rPr sz="1300">
                <a:solidFill>
                  <a:srgbClr val="F1F6FF"/>
                </a:solidFill>
                <a:latin typeface="Aptos"/>
              </a:rPr>
              <a:t>how much of the fraud is detected.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35D3D2"/>
                </a:solidFill>
                <a:latin typeface="Aptos"/>
              </a:rPr>
              <a:t>• </a:t>
            </a:r>
            <a:r>
              <a:rPr b="1" sz="1300">
                <a:solidFill>
                  <a:srgbClr val="35D3D2"/>
                </a:solidFill>
                <a:latin typeface="Aptos"/>
              </a:rPr>
              <a:t>F1-score — </a:t>
            </a:r>
            <a:r>
              <a:rPr sz="1300">
                <a:solidFill>
                  <a:srgbClr val="F1F6FF"/>
                </a:solidFill>
                <a:latin typeface="Aptos"/>
              </a:rPr>
              <a:t>balance between precision and recall.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35D3D2"/>
                </a:solidFill>
                <a:latin typeface="Aptos"/>
              </a:rPr>
              <a:t>• </a:t>
            </a:r>
            <a:r>
              <a:rPr b="1" sz="1300">
                <a:solidFill>
                  <a:srgbClr val="35D3D2"/>
                </a:solidFill>
                <a:latin typeface="Aptos"/>
              </a:rPr>
              <a:t>AUC-PR / AUC-ROC — </a:t>
            </a:r>
            <a:r>
              <a:rPr sz="1300">
                <a:solidFill>
                  <a:srgbClr val="F1F6FF"/>
                </a:solidFill>
                <a:latin typeface="Aptos"/>
              </a:rPr>
              <a:t>ranking performance under class imbalance.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35D3D2"/>
                </a:solidFill>
                <a:latin typeface="Aptos"/>
              </a:rPr>
              <a:t>• </a:t>
            </a:r>
            <a:r>
              <a:rPr b="1" sz="1300">
                <a:solidFill>
                  <a:srgbClr val="35D3D2"/>
                </a:solidFill>
                <a:latin typeface="Aptos"/>
              </a:rPr>
              <a:t>Confusion matrix — </a:t>
            </a:r>
            <a:r>
              <a:rPr sz="1300">
                <a:solidFill>
                  <a:srgbClr val="F1F6FF"/>
                </a:solidFill>
                <a:latin typeface="Aptos"/>
              </a:rPr>
              <a:t>false positives versus missed fraud.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1627632"/>
            <a:ext cx="5303520" cy="4251960"/>
          </a:xfrm>
          <a:prstGeom prst="roundRect">
            <a:avLst/>
          </a:prstGeom>
          <a:solidFill>
            <a:srgbClr val="111D32"/>
          </a:solidFill>
          <a:ln w="10160">
            <a:solidFill>
              <a:srgbClr val="2F44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1874519"/>
            <a:ext cx="457200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600" b="1">
                <a:solidFill>
                  <a:srgbClr val="FFBE5C"/>
                </a:solidFill>
                <a:latin typeface="Aptos"/>
              </a:rPr>
              <a:t>CURRENTLY STATED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2450592"/>
            <a:ext cx="4526280" cy="5943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800" b="1">
                <a:solidFill>
                  <a:srgbClr val="F1F6FF"/>
                </a:solidFill>
                <a:latin typeface="Aptos"/>
              </a:rPr>
              <a:t>Inference latency: under 42 ms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3127248"/>
            <a:ext cx="4526280" cy="9144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300" b="0">
                <a:solidFill>
                  <a:srgbClr val="A6B7CD"/>
                </a:solidFill>
                <a:latin typeface="Aptos"/>
              </a:rPr>
              <a:t>This is the performance figure in the project description. Include it as a measured result only if supported by benchmark logs and a defined test environment.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4315968"/>
            <a:ext cx="4526280" cy="8686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300" b="0">
                <a:solidFill>
                  <a:srgbClr val="A6B7CD"/>
                </a:solidFill>
                <a:latin typeface="Aptos"/>
              </a:rPr>
              <a:t>Exact test-set scores, dataset name, sample size, and hardware details were not provided for this deck.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8" y="6080760"/>
            <a:ext cx="1060704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000" b="1">
                <a:solidFill>
                  <a:srgbClr val="FF687A"/>
                </a:solidFill>
                <a:latin typeface="Aptos"/>
              </a:rPr>
              <a:t>Avoid reporting invented accuracy, precision, recall, or dataset statistics.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0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972800" cy="4754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2700" b="1">
                <a:solidFill>
                  <a:srgbClr val="F1F6FF"/>
                </a:solidFill>
                <a:latin typeface="Aptos"/>
              </a:rPr>
              <a:t>End-to-End Analyst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59536"/>
            <a:ext cx="1088136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150" b="0">
                <a:solidFill>
                  <a:srgbClr val="A6B7CD"/>
                </a:solidFill>
                <a:latin typeface="Aptos"/>
              </a:rPr>
              <a:t>A practical demonstration sequence for presenting the website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43584"/>
            <a:ext cx="685800" cy="41148"/>
          </a:xfrm>
          <a:prstGeom prst="rect">
            <a:avLst/>
          </a:prstGeom>
          <a:solidFill>
            <a:srgbClr val="35D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510528"/>
            <a:ext cx="804672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800" b="0">
                <a:solidFill>
                  <a:srgbClr val="A6B7CD"/>
                </a:solidFill>
                <a:latin typeface="Aptos"/>
              </a:rPr>
              <a:t>SECUREBANK AI  •  MICRO-PROJECT  •  ARTIFICIAL INTELLIGENCE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73952"/>
            <a:ext cx="50292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35D3D2"/>
                </a:solidFill>
                <a:latin typeface="Aptos"/>
              </a:rPr>
              <a:t>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691640"/>
            <a:ext cx="3383280" cy="1600200"/>
          </a:xfrm>
          <a:prstGeom prst="roundRect">
            <a:avLst/>
          </a:prstGeom>
          <a:solidFill>
            <a:srgbClr val="111D32"/>
          </a:solidFill>
          <a:ln w="10160">
            <a:solidFill>
              <a:srgbClr val="2F44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856232"/>
            <a:ext cx="54864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600" b="1">
                <a:solidFill>
                  <a:srgbClr val="35D3D2"/>
                </a:solidFill>
                <a:latin typeface="Aptos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90472" y="1856232"/>
            <a:ext cx="233172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F1F6FF"/>
                </a:solidFill>
                <a:latin typeface="Aptos"/>
              </a:rPr>
              <a:t>Sign 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2350008"/>
            <a:ext cx="2971800" cy="6858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150" b="0">
                <a:solidFill>
                  <a:srgbClr val="A6B7CD"/>
                </a:solidFill>
                <a:latin typeface="Aptos"/>
              </a:rPr>
              <a:t>Admin authenticates to access the dashboard.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53128" y="1691640"/>
            <a:ext cx="3383280" cy="1600200"/>
          </a:xfrm>
          <a:prstGeom prst="roundRect">
            <a:avLst/>
          </a:prstGeom>
          <a:solidFill>
            <a:srgbClr val="111D32"/>
          </a:solidFill>
          <a:ln w="10160">
            <a:solidFill>
              <a:srgbClr val="2F44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36008" y="1856232"/>
            <a:ext cx="54864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600" b="1">
                <a:solidFill>
                  <a:srgbClr val="35D3D2"/>
                </a:solidFill>
                <a:latin typeface="Aptos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57800" y="1856232"/>
            <a:ext cx="233172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F1F6FF"/>
                </a:solidFill>
                <a:latin typeface="Aptos"/>
              </a:rPr>
              <a:t>Inspect queue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54296" y="2350008"/>
            <a:ext cx="2971800" cy="6858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150" b="0">
                <a:solidFill>
                  <a:srgbClr val="A6B7CD"/>
                </a:solidFill>
                <a:latin typeface="Aptos"/>
              </a:rPr>
              <a:t>Review transactions and risk levels.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0456" y="1691640"/>
            <a:ext cx="3383280" cy="1600200"/>
          </a:xfrm>
          <a:prstGeom prst="roundRect">
            <a:avLst/>
          </a:prstGeom>
          <a:solidFill>
            <a:srgbClr val="111D32"/>
          </a:solidFill>
          <a:ln w="10160">
            <a:solidFill>
              <a:srgbClr val="2F44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03336" y="1856232"/>
            <a:ext cx="54864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600" b="1">
                <a:solidFill>
                  <a:srgbClr val="35D3D2"/>
                </a:solidFill>
                <a:latin typeface="Aptos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25128" y="1856232"/>
            <a:ext cx="233172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F1F6FF"/>
                </a:solidFill>
                <a:latin typeface="Aptos"/>
              </a:rPr>
              <a:t>Open a flagged item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21624" y="2350008"/>
            <a:ext cx="2971800" cy="6858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150" b="0">
                <a:solidFill>
                  <a:srgbClr val="A6B7CD"/>
                </a:solidFill>
                <a:latin typeface="Aptos"/>
              </a:rPr>
              <a:t>Check the risk score and available feature attribution.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" y="3703320"/>
            <a:ext cx="3383280" cy="1600200"/>
          </a:xfrm>
          <a:prstGeom prst="roundRect">
            <a:avLst/>
          </a:prstGeom>
          <a:solidFill>
            <a:srgbClr val="162740"/>
          </a:solidFill>
          <a:ln w="10160">
            <a:solidFill>
              <a:srgbClr val="2F44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3867912"/>
            <a:ext cx="54864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600" b="1">
                <a:solidFill>
                  <a:srgbClr val="35D3D2"/>
                </a:solidFill>
                <a:latin typeface="Aptos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90472" y="3867912"/>
            <a:ext cx="233172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F1F6FF"/>
                </a:solidFill>
                <a:latin typeface="Aptos"/>
              </a:rPr>
              <a:t>Ask Gemini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6968" y="4361688"/>
            <a:ext cx="2971800" cy="6858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150" b="0">
                <a:solidFill>
                  <a:srgbClr val="A6B7CD"/>
                </a:solidFill>
                <a:latin typeface="Aptos"/>
              </a:rPr>
              <a:t>Request a natural-language explanation or investigation context.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453128" y="3703320"/>
            <a:ext cx="3383280" cy="1600200"/>
          </a:xfrm>
          <a:prstGeom prst="roundRect">
            <a:avLst/>
          </a:prstGeom>
          <a:solidFill>
            <a:srgbClr val="162740"/>
          </a:solidFill>
          <a:ln w="10160">
            <a:solidFill>
              <a:srgbClr val="2F44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636008" y="3867912"/>
            <a:ext cx="54864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600" b="1">
                <a:solidFill>
                  <a:srgbClr val="35D3D2"/>
                </a:solidFill>
                <a:latin typeface="Aptos"/>
              </a:rPr>
              <a:t>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57800" y="3867912"/>
            <a:ext cx="233172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F1F6FF"/>
                </a:solidFill>
                <a:latin typeface="Aptos"/>
              </a:rPr>
              <a:t>Batch-score CSV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54296" y="4361688"/>
            <a:ext cx="2971800" cy="6858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150" b="0">
                <a:solidFill>
                  <a:srgbClr val="A6B7CD"/>
                </a:solidFill>
                <a:latin typeface="Aptos"/>
              </a:rPr>
              <a:t>Upload a file and inspect the predictions.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220456" y="3703320"/>
            <a:ext cx="3383280" cy="1600200"/>
          </a:xfrm>
          <a:prstGeom prst="roundRect">
            <a:avLst/>
          </a:prstGeom>
          <a:solidFill>
            <a:srgbClr val="162740"/>
          </a:solidFill>
          <a:ln w="10160">
            <a:solidFill>
              <a:srgbClr val="2F44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03336" y="3867912"/>
            <a:ext cx="54864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600" b="1">
                <a:solidFill>
                  <a:srgbClr val="35D3D2"/>
                </a:solidFill>
                <a:latin typeface="Aptos"/>
              </a:rPr>
              <a:t>06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25128" y="3867912"/>
            <a:ext cx="233172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F1F6FF"/>
                </a:solidFill>
                <a:latin typeface="Aptos"/>
              </a:rPr>
              <a:t>Review analytics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21624" y="4361688"/>
            <a:ext cx="2971800" cy="6858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150" b="0">
                <a:solidFill>
                  <a:srgbClr val="A6B7CD"/>
                </a:solidFill>
                <a:latin typeface="Aptos"/>
              </a:rPr>
              <a:t>Use risk distribution and performance metrics to summarize system behavior.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9808" y="5925312"/>
            <a:ext cx="1051560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000" b="0">
                <a:solidFill>
                  <a:srgbClr val="FFBE5C"/>
                </a:solidFill>
                <a:latin typeface="Aptos"/>
              </a:rPr>
              <a:t>For a live demo, use a clearly labeled synthetic/sample dataset unless you have permission to use real transaction data.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" y="6199632"/>
            <a:ext cx="1051560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800">
                <a:solidFill>
                  <a:srgbClr val="A6B7CD"/>
                </a:solidFill>
                <a:latin typeface="Aptos"/>
              </a:defRPr>
            </a:pPr>
            <a:r>
              <a:t>Responsible use: validate flags with human review. Future scope: production streaming, drift monitoring and controlled retraining.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SecureBank AI Fraud Detection Platform — Final 10-Slide Presentation</dc:title>
  <dc:subject>AI Micro-Project Final Presentation</dc:subject>
  <dc:creator>V. Jishnu, A. Visal, Kalam Hussain A, S. Hubert Jaison</dc:creator>
  <cp:keywords>Fraud Detection, XGBoost, Explainable AI, Gemini, Artificial Intelligence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